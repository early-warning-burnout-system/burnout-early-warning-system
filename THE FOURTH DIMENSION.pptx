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2" r:id="rId3"/>
    <p:sldId id="259" r:id="rId4"/>
    <p:sldId id="260" r:id="rId5"/>
    <p:sldId id="264" r:id="rId6"/>
    <p:sldId id="263" r:id="rId7"/>
    <p:sldId id="266" r:id="rId8"/>
    <p:sldId id="265" r:id="rId9"/>
    <p:sldId id="268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ga Sailaja Kola" initials="NK" lastIdx="3" clrIdx="0">
    <p:extLst>
      <p:ext uri="{19B8F6BF-5375-455C-9EA6-DF929625EA0E}">
        <p15:presenceInfo xmlns:p15="http://schemas.microsoft.com/office/powerpoint/2012/main" userId="a4fd4ccb3539343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109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02677-20BA-402D-BB8E-B4691F7F644A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534C1-42DB-4818-B99D-2BCFE68533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53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7014906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ad07014906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2EC075BA-F4B2-369F-FD3F-DF59A423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07014906_2_59:notes">
            <a:extLst>
              <a:ext uri="{FF2B5EF4-FFF2-40B4-BE49-F238E27FC236}">
                <a16:creationId xmlns:a16="http://schemas.microsoft.com/office/drawing/2014/main" id="{A95D9DFC-8992-0BB9-03A9-F5B41DC29F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ad07014906_2_59:notes">
            <a:extLst>
              <a:ext uri="{FF2B5EF4-FFF2-40B4-BE49-F238E27FC236}">
                <a16:creationId xmlns:a16="http://schemas.microsoft.com/office/drawing/2014/main" id="{B6C6D650-4528-5E46-E102-18A56B347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051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07014906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ad07014906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d07014906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ad07014906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07014906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ad07014906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07014906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ad07014906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07014906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ad07014906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07014906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ad07014906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d07014906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ad07014906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07014906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ad07014906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7674-C703-33BA-2DA8-A6AE85022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B7E3E-6688-8EB8-40D8-3E042A38A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AD7F4-E58B-63EE-3C7B-A88E7A83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FDAAC-B770-9C2E-8D0B-9C3E7EA4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C98A9-9188-6DBB-10B5-9B42BB4B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44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3B39-B181-215C-BFA9-E9DF26E2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616C-FA35-E610-8CE2-4CFD1184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A2D01-FA10-C5C9-83F1-57E3667B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0FF8-771D-0179-3015-6C808931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C0EA-4FF9-8557-C9A9-3B67816E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41C9-3CFD-247C-5C32-38AAF8CB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22217-F4DB-26BE-4DC4-5B4640B2D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BEC14-3AB0-559B-12EB-794F5F53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61C20-8E90-96EE-5D6B-5C44E23B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A7028-72AB-A7D4-AEEB-8CC48860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44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EA53-6233-B50F-2148-18A39A6EC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9E0B3-6FC4-0E44-984E-9F4A05467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0FA34-D71B-5603-52E7-3D72083FB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B200C-4F56-C9DC-CDCC-AD0096EC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90288-1255-C2A4-F0BC-A143D406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34210-7DBC-16B4-DC01-2D8A19F3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91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C5B5-E7F8-2CDC-07C8-FE0724E47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ADD15-6C48-674B-E398-5F1B10FA4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03406-A661-BE33-7B5A-1C57ECF93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F3B48-E5C2-8A0E-22E6-608FD72AB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C1D12B-8D12-1F52-F965-06B8AE108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B8FE7-596B-F9C0-2CEF-1E06A6F7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D3379-2D7F-8F96-0EAF-C307DB4F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66489-A8D6-08A7-9535-27CFAA6D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5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7EFD-D6F8-A7A3-C240-37293DD69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8A117-9CB2-124D-9D37-410D7AC3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B78E4-8FD1-BFA5-F179-5237641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B5DB8-545C-3497-27EE-BA2CDCCC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3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3A53D-966D-46C4-4244-4C1E8158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856B9-1D5D-4F4E-9042-D47B5F3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3324E-7FDD-6798-0F0F-62D454F0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83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7157-2E08-F126-33B8-813DC9FA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3C6C-D763-DE42-3993-AB14D51F0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182CC-E77D-87A1-0BC6-3A1A47DBE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04B95-57A7-8417-C2AA-13F284BF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9A5D9-D290-514F-AD9E-22D518E0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B5C41-F5DD-A11C-87EB-2C38809E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57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004B-9EAD-8504-4FF8-68BD645D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05DB9-08D4-A2E3-C906-E546AFCFE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72F39-3D5E-B883-A415-C6B02A18C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B7686-7A17-1942-30AF-66C5673D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DA893-0E32-8471-E090-5524FD76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6BA20-F593-C584-923A-0848F701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26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E968-F016-C527-475F-BBA25D31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A5BA2-6B84-B1D3-596C-E191C2182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BB83-5C21-5476-7BA9-684AEC2E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CE10-D55F-FAA1-FFB1-EF5BF3FA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19EA6-7758-287D-2040-4F64D456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58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660F1-C7A3-5C73-5989-68E091EF9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EF784-2C2A-A0B6-4018-BBEA58E26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C629A-B06D-8244-CC2F-D9F7CB97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61BDC-79F1-BE1A-E417-BD1DAFA0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343F2-F4DF-757E-A355-343D6949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93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44FE8-AD6A-7AB3-D15C-E88E2324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12B15-9F23-1448-BEE0-1F52CA01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E8537-BD3D-8773-4EE5-F807E8F8D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7CF28-050F-44CD-B30B-A0064E25EDA3}" type="datetimeFigureOut">
              <a:rPr lang="en-IN" smtClean="0"/>
              <a:t>04/01/26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1722-F928-341A-1ADC-488B2D03A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A73A1-9114-29D9-0A51-B4BA52F4E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E72D0-DCD9-4349-9FC3-88A12EB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76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rgs/EARLY-WARNING-BURNOUT-SYSTEM/repositori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burnout-early-warning.netlify.app/" TargetMode="External"/><Relationship Id="rId4" Type="http://schemas.openxmlformats.org/officeDocument/2006/relationships/hyperlink" Target="https://drive.google.com/file/d/1iSLWJG8K5mH0XrwBQVaPUshcoybxzGY1/view?usp=drivesdk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216800" y="4260167"/>
            <a:ext cx="11680000" cy="22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219170" lvl="1" indent="-457189"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THE FOURTH DIMENSION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219170" lvl="1" indent="-457189"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KARRI GREESHMA VARSHITHA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219170" lvl="1" indent="-457189"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Open Innovation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6" title="Techsprint ban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13597" cy="4037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24ECAF2-742A-1863-E28F-72A5C6C6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>
            <a:extLst>
              <a:ext uri="{FF2B5EF4-FFF2-40B4-BE49-F238E27FC236}">
                <a16:creationId xmlns:a16="http://schemas.microsoft.com/office/drawing/2014/main" id="{56FC9406-E054-C2ED-E1FE-FF6FB18297F8}"/>
              </a:ext>
            </a:extLst>
          </p:cNvPr>
          <p:cNvSpPr txBox="1"/>
          <p:nvPr/>
        </p:nvSpPr>
        <p:spPr>
          <a:xfrm>
            <a:off x="287429" y="1075132"/>
            <a:ext cx="11924000" cy="578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 and problem statement addressing</a:t>
            </a:r>
          </a:p>
          <a:p>
            <a:pPr>
              <a:buClr>
                <a:srgbClr val="000000"/>
              </a:buClr>
              <a:buSzPts val="1800"/>
            </a:pPr>
            <a:endParaRPr lang="en-GB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Problem: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Burnout often goes unnoticed until it seriously affects mental health, productivity, and performance—especially among students and professionals.</a:t>
            </a:r>
          </a:p>
          <a:p>
            <a:pPr>
              <a:buClr>
                <a:srgbClr val="000000"/>
              </a:buClr>
              <a:buSzPts val="1800"/>
            </a:pPr>
            <a:endParaRPr lang="en-US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Solution: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Our system continuously tracks lifestyle and workload indicators such as screen time, sleep patterns, stress levels, and activity data to detect early signs of burnout.</a:t>
            </a:r>
          </a:p>
          <a:p>
            <a:pPr>
              <a:buClr>
                <a:srgbClr val="000000"/>
              </a:buClr>
              <a:buSzPts val="1800"/>
            </a:pPr>
            <a:endParaRPr lang="en-US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Impact: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By generating timely alerts and preventive suggestions, the solution enables early intervention, helping users maintain well-being, balance, and sustained productivity.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3" name="Google Shape;113;p27" title="Group 2200185.png">
            <a:extLst>
              <a:ext uri="{FF2B5EF4-FFF2-40B4-BE49-F238E27FC236}">
                <a16:creationId xmlns:a16="http://schemas.microsoft.com/office/drawing/2014/main" id="{299F5DFC-2EE6-1B1F-89E9-C7005CD9D6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674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/>
        </p:nvSpPr>
        <p:spPr>
          <a:xfrm>
            <a:off x="244333" y="796066"/>
            <a:ext cx="11712400" cy="606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2000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GB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a.How different is it from any of the other existing ideas?</a:t>
            </a:r>
            <a:endParaRPr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lang="en-US" sz="2800"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Focuses on early prediction, not post-burnout analysis</a:t>
            </a: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Lightweight, privacy-friendly, and student-centric</a:t>
            </a: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Combines technology + mental well-being in a proactive way</a:t>
            </a: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2000" lvl="1">
              <a:lnSpc>
                <a:spcPct val="115000"/>
              </a:lnSpc>
              <a:buClr>
                <a:srgbClr val="434343"/>
              </a:buClr>
              <a:buSzPts val="1800"/>
            </a:pP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latin typeface="Google Sans"/>
                <a:ea typeface="Google Sans"/>
                <a:cs typeface="Google Sans"/>
                <a:sym typeface="Google Sans"/>
              </a:rPr>
              <a:t>b.</a:t>
            </a:r>
            <a:r>
              <a:rPr lang="en-US" sz="28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4999"/>
              </a:lnSpc>
              <a:buSzPts val="1800"/>
            </a:pP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Continuously monitors burnout indicators</a:t>
            </a: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Detects risk patterns using smart thresholds</a:t>
            </a:r>
            <a:endParaRPr lang="en-US"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  <a:p>
            <a:pPr marL="761365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2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Encourages preventive action, not just awareness</a:t>
            </a:r>
            <a:endParaRPr sz="2800">
              <a:solidFill>
                <a:srgbClr val="434343"/>
              </a:solidFill>
              <a:latin typeface="Google Sans"/>
              <a:ea typeface="Google Sans"/>
              <a:cs typeface="Google Sans"/>
            </a:endParaRPr>
          </a:p>
        </p:txBody>
      </p:sp>
      <p:pic>
        <p:nvPicPr>
          <p:cNvPr id="119" name="Google Shape;119;p28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/>
        </p:nvSpPr>
        <p:spPr>
          <a:xfrm>
            <a:off x="273017" y="753035"/>
            <a:ext cx="11645966" cy="610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 dirty="0"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lang="en-GB" sz="2400" b="1" dirty="0">
              <a:latin typeface="Google Sans"/>
              <a:ea typeface="Google Sans"/>
              <a:cs typeface="Google Sans"/>
            </a:endParaRPr>
          </a:p>
          <a:p>
            <a:pPr>
              <a:buClr>
                <a:srgbClr val="000000"/>
              </a:buClr>
              <a:buSzPts val="1800"/>
            </a:pPr>
            <a:endParaRPr lang="en-GB" sz="2400" b="1" dirty="0">
              <a:latin typeface="Google Sans"/>
              <a:ea typeface="Google Sans"/>
              <a:cs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GB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</a:t>
            </a: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•	Continuous monitoring of burnout indicators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Early risk detection &amp; predictive alerts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Personalized preventive suggestions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Simple, user-friendly dashboard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Privacy-focused data handling</a:t>
            </a:r>
          </a:p>
          <a:p>
            <a:pPr>
              <a:buClr>
                <a:srgbClr val="000000"/>
              </a:buClr>
              <a:buSzPts val="1800"/>
            </a:pPr>
            <a:endParaRPr lang="en-US" sz="24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latin typeface="Google Sans"/>
                <a:ea typeface="Google Sans"/>
                <a:cs typeface="Google Sans"/>
                <a:sym typeface="Google Sans"/>
              </a:rPr>
              <a:t>Google Technologies used in the solution</a:t>
            </a:r>
            <a:endParaRPr lang="en-US" sz="2400" b="1" dirty="0">
              <a:latin typeface="Google Sans"/>
              <a:ea typeface="Google Sans"/>
              <a:cs typeface="Google Sans"/>
            </a:endParaRPr>
          </a:p>
          <a:p>
            <a:pPr>
              <a:buClr>
                <a:srgbClr val="000000"/>
              </a:buClr>
              <a:buSzPts val="1800"/>
            </a:pPr>
            <a:endParaRPr lang="en-US" sz="2400" b="1" dirty="0">
              <a:solidFill>
                <a:srgbClr val="FF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•	Google Fit API - activity &amp; health data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Google forms-used for daily user input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Google Cloud Platform - data processing &amp; storage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Google Alerts – used for high </a:t>
            </a: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risk notifications</a:t>
            </a:r>
            <a:endParaRPr lang="en-US" sz="24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Google Charts – visual analytics &amp; insights</a:t>
            </a:r>
          </a:p>
          <a:p>
            <a:pPr>
              <a:buClr>
                <a:srgbClr val="000000"/>
              </a:buClr>
              <a:buSzPts val="1800"/>
            </a:pPr>
            <a:endParaRPr lang="en-US" sz="24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endParaRPr sz="24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5" name="Google Shape;125;p29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260633" y="828339"/>
            <a:ext cx="11696000" cy="602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User Registration &amp; Consent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⬇️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Data Collection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(Screen time, sleep patterns, activity levels, workload)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⬇️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Data Analysis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(Threshold-based logic / basic ML model)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⬇️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Burnout Risk Detection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(Low / Medium / High risk classification)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⬇️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Alert &amp; Notification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(Early warning sent to user)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⬇️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Preventive Suggestions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(Rest, break reminders, lifestyle tips)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⬇️</a:t>
            </a:r>
          </a:p>
          <a:p>
            <a:pPr>
              <a:buClr>
                <a:srgbClr val="000000"/>
              </a:buClr>
              <a:buSzPts val="1800"/>
            </a:pPr>
            <a:r>
              <a:rPr lang="en-IN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Continuous Monitoring</a:t>
            </a:r>
            <a:endParaRPr sz="20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7" name="Google Shape;137;p31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/>
        </p:nvSpPr>
        <p:spPr>
          <a:xfrm>
            <a:off x="-1" y="487101"/>
            <a:ext cx="11978933" cy="631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</a:t>
            </a:r>
            <a:r>
              <a:rPr lang="en-US" sz="2400"/>
              <a:t> </a:t>
            </a:r>
          </a:p>
          <a:p>
            <a:pPr>
              <a:buClr>
                <a:srgbClr val="000000"/>
              </a:buClr>
              <a:buSzPts val="1800"/>
            </a:pP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3" name="Google Shape;143;p32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CD8C5F5-DC13-29CB-0732-C547AA8D3D0A}"/>
              </a:ext>
            </a:extLst>
          </p:cNvPr>
          <p:cNvSpPr/>
          <p:nvPr/>
        </p:nvSpPr>
        <p:spPr>
          <a:xfrm>
            <a:off x="679757" y="1459800"/>
            <a:ext cx="4313817" cy="1969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IN" sz="1600">
                <a:solidFill>
                  <a:schemeClr val="tx1"/>
                </a:solidFill>
              </a:rPr>
              <a:t>Login</a:t>
            </a:r>
            <a:r>
              <a:rPr lang="en-US" sz="1600">
                <a:solidFill>
                  <a:schemeClr val="tx1"/>
                </a:solidFill>
              </a:rPr>
              <a:t> &amp; Consent Scree</a:t>
            </a:r>
            <a:r>
              <a:rPr lang="en-IN" sz="1600"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User login/sign up    </a:t>
            </a:r>
            <a:endParaRPr lang="en-IN" sz="1600">
              <a:solidFill>
                <a:schemeClr val="tx1"/>
              </a:solidFill>
            </a:endParaRPr>
          </a:p>
          <a:p>
            <a:pPr algn="ctr"/>
            <a:r>
              <a:rPr lang="en-IN" sz="1600">
                <a:solidFill>
                  <a:schemeClr val="tx1"/>
                </a:solidFill>
              </a:rPr>
              <a:t>                         •    D</a:t>
            </a:r>
            <a:r>
              <a:rPr lang="en-US" sz="1600" err="1">
                <a:solidFill>
                  <a:schemeClr val="tx1"/>
                </a:solidFill>
              </a:rPr>
              <a:t>ata</a:t>
            </a:r>
            <a:r>
              <a:rPr lang="en-US" sz="1600">
                <a:solidFill>
                  <a:schemeClr val="tx1"/>
                </a:solidFill>
              </a:rPr>
              <a:t> access</a:t>
            </a:r>
            <a:r>
              <a:rPr lang="en-IN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permission (</a:t>
            </a:r>
            <a:r>
              <a:rPr lang="en-IN" sz="1600">
                <a:solidFill>
                  <a:schemeClr val="tx1"/>
                </a:solidFill>
              </a:rPr>
              <a:t>health </a:t>
            </a:r>
            <a:r>
              <a:rPr lang="en-US" sz="1600">
                <a:solidFill>
                  <a:schemeClr val="tx1"/>
                </a:solidFill>
              </a:rPr>
              <a:t>&amp; activity data)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20AA6-C8B2-61F4-D82D-CF357F6C338A}"/>
              </a:ext>
            </a:extLst>
          </p:cNvPr>
          <p:cNvSpPr/>
          <p:nvPr/>
        </p:nvSpPr>
        <p:spPr>
          <a:xfrm>
            <a:off x="679757" y="4565979"/>
            <a:ext cx="4333279" cy="19471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IN" sz="1600">
                <a:solidFill>
                  <a:schemeClr val="tx1"/>
                </a:solidFill>
              </a:rPr>
              <a:t>4. Alert &amp; Recommendation Screen </a:t>
            </a:r>
          </a:p>
          <a:p>
            <a:pPr algn="ctr" rtl="1"/>
            <a:r>
              <a:rPr lang="en-IN" sz="1600">
                <a:solidFill>
                  <a:schemeClr val="tx1"/>
                </a:solidFill>
              </a:rPr>
              <a:t>                     •       Early warning notification.  </a:t>
            </a:r>
          </a:p>
          <a:p>
            <a:pPr algn="ctr" rtl="1"/>
            <a:r>
              <a:rPr lang="en-IN" sz="1600">
                <a:solidFill>
                  <a:schemeClr val="tx1"/>
                </a:solidFill>
              </a:rPr>
              <a:t>	               •       Personalized suggestions (rest, breaks, lifestyle tips)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B6D66B-FB85-3A1B-4C69-32498C0B36B7}"/>
              </a:ext>
            </a:extLst>
          </p:cNvPr>
          <p:cNvSpPr/>
          <p:nvPr/>
        </p:nvSpPr>
        <p:spPr>
          <a:xfrm>
            <a:off x="6803403" y="1318452"/>
            <a:ext cx="4313817" cy="19680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IN" sz="1600">
                <a:solidFill>
                  <a:schemeClr val="tx1"/>
                </a:solidFill>
              </a:rPr>
              <a:t>             2</a:t>
            </a:r>
            <a:r>
              <a:rPr lang="en-US" sz="1600">
                <a:solidFill>
                  <a:schemeClr val="tx1"/>
                </a:solidFill>
              </a:rPr>
              <a:t>. Dashboard Screen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         </a:t>
            </a:r>
            <a:r>
              <a:rPr lang="en-IN" sz="1600">
                <a:solidFill>
                  <a:schemeClr val="tx1"/>
                </a:solidFill>
              </a:rPr>
              <a:t>   </a:t>
            </a:r>
            <a:r>
              <a:rPr lang="en-US" sz="1600">
                <a:solidFill>
                  <a:schemeClr val="tx1"/>
                </a:solidFill>
              </a:rPr>
              <a:t> • </a:t>
            </a:r>
            <a:r>
              <a:rPr lang="en-IN" sz="1600">
                <a:solidFill>
                  <a:schemeClr val="tx1"/>
                </a:solidFill>
              </a:rPr>
              <a:t>  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IN" sz="1600">
                <a:solidFill>
                  <a:schemeClr val="tx1"/>
                </a:solidFill>
              </a:rPr>
              <a:t>B</a:t>
            </a:r>
            <a:r>
              <a:rPr lang="en-US" sz="1600" err="1">
                <a:solidFill>
                  <a:schemeClr val="tx1"/>
                </a:solidFill>
              </a:rPr>
              <a:t>urnout</a:t>
            </a:r>
            <a:r>
              <a:rPr lang="en-US" sz="1600">
                <a:solidFill>
                  <a:schemeClr val="tx1"/>
                </a:solidFill>
              </a:rPr>
              <a:t> Risk Status: Low / Medium / High</a:t>
            </a:r>
          </a:p>
          <a:p>
            <a:pPr algn="ctr"/>
            <a:r>
              <a:rPr lang="en-IN" sz="1600">
                <a:solidFill>
                  <a:schemeClr val="tx1"/>
                </a:solidFill>
              </a:rPr>
              <a:t>           </a:t>
            </a:r>
            <a:r>
              <a:rPr lang="en-US" sz="1600">
                <a:solidFill>
                  <a:schemeClr val="tx1"/>
                </a:solidFill>
              </a:rPr>
              <a:t>•</a:t>
            </a:r>
            <a:r>
              <a:rPr lang="en-IN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  </a:t>
            </a:r>
            <a:r>
              <a:rPr lang="en-IN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Key indicators: Sleep, Screen Time, Stress, Activity</a:t>
            </a:r>
          </a:p>
          <a:p>
            <a:r>
              <a:rPr lang="en-US" sz="1600">
                <a:solidFill>
                  <a:schemeClr val="tx1"/>
                </a:solidFill>
              </a:rPr>
              <a:t>           </a:t>
            </a:r>
            <a:r>
              <a:rPr lang="en-IN" sz="1600">
                <a:solidFill>
                  <a:schemeClr val="tx1"/>
                </a:solidFill>
              </a:rPr>
              <a:t>  </a:t>
            </a:r>
            <a:r>
              <a:rPr lang="en-US" sz="1600">
                <a:solidFill>
                  <a:schemeClr val="tx1"/>
                </a:solidFill>
              </a:rPr>
              <a:t>  •</a:t>
            </a:r>
            <a:r>
              <a:rPr lang="en-IN" sz="1600">
                <a:solidFill>
                  <a:schemeClr val="tx1"/>
                </a:solidFill>
              </a:rPr>
              <a:t>     </a:t>
            </a:r>
            <a:r>
              <a:rPr lang="en-US" sz="1600">
                <a:solidFill>
                  <a:schemeClr val="tx1"/>
                </a:solidFill>
              </a:rPr>
              <a:t>Simple visual bars / icon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FA10A-F614-AC3E-B341-998FF294F1F4}"/>
              </a:ext>
            </a:extLst>
          </p:cNvPr>
          <p:cNvSpPr/>
          <p:nvPr/>
        </p:nvSpPr>
        <p:spPr>
          <a:xfrm>
            <a:off x="7025958" y="4555543"/>
            <a:ext cx="4303377" cy="19680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>
                <a:solidFill>
                  <a:schemeClr val="tx1"/>
                </a:solidFill>
              </a:rPr>
              <a:t>                </a:t>
            </a:r>
            <a:r>
              <a:rPr lang="en-US" sz="1600">
                <a:solidFill>
                  <a:schemeClr val="tx1"/>
                </a:solidFill>
              </a:rPr>
              <a:t>3. Analysis Screen</a:t>
            </a:r>
            <a:endParaRPr lang="en-IN" sz="1600">
              <a:solidFill>
                <a:schemeClr val="tx1"/>
              </a:solidFill>
            </a:endParaRPr>
          </a:p>
          <a:p>
            <a:r>
              <a:rPr lang="en-IN" sz="1600">
                <a:solidFill>
                  <a:schemeClr val="tx1"/>
                </a:solidFill>
              </a:rPr>
              <a:t>                  •   </a:t>
            </a:r>
            <a:r>
              <a:rPr lang="en-US" sz="1600">
                <a:solidFill>
                  <a:schemeClr val="tx1"/>
                </a:solidFill>
              </a:rPr>
              <a:t>Trend view of daily activity &amp; stress</a:t>
            </a:r>
          </a:p>
          <a:p>
            <a:r>
              <a:rPr lang="en-US" sz="1600">
                <a:solidFill>
                  <a:schemeClr val="tx1"/>
                </a:solidFill>
              </a:rPr>
              <a:t>                  •	Burnout score calculation</a:t>
            </a:r>
          </a:p>
          <a:p>
            <a:r>
              <a:rPr lang="en-US" sz="1600">
                <a:solidFill>
                  <a:schemeClr val="tx1"/>
                </a:solidFill>
              </a:rPr>
              <a:t>                  •	Risk pattern identification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055CFC3-D000-C97A-EA52-AFA2DC196077}"/>
              </a:ext>
            </a:extLst>
          </p:cNvPr>
          <p:cNvSpPr/>
          <p:nvPr/>
        </p:nvSpPr>
        <p:spPr>
          <a:xfrm>
            <a:off x="5473417" y="2132702"/>
            <a:ext cx="1011218" cy="45182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1850451-1645-EFEA-44C5-4B2DFA45BB51}"/>
              </a:ext>
            </a:extLst>
          </p:cNvPr>
          <p:cNvSpPr/>
          <p:nvPr/>
        </p:nvSpPr>
        <p:spPr>
          <a:xfrm>
            <a:off x="8696836" y="3429000"/>
            <a:ext cx="480540" cy="929924"/>
          </a:xfrm>
          <a:prstGeom prst="downArrow">
            <a:avLst>
              <a:gd name="adj1" fmla="val 50000"/>
              <a:gd name="adj2" fmla="val 6204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9793FAA9-58B7-55F8-CEA6-1D5B780F16E7}"/>
              </a:ext>
            </a:extLst>
          </p:cNvPr>
          <p:cNvSpPr/>
          <p:nvPr/>
        </p:nvSpPr>
        <p:spPr>
          <a:xfrm flipV="1">
            <a:off x="5473417" y="5293846"/>
            <a:ext cx="1032095" cy="491399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0745C40-011B-2F94-1FCE-A710CB837426}"/>
              </a:ext>
            </a:extLst>
          </p:cNvPr>
          <p:cNvSpPr/>
          <p:nvPr/>
        </p:nvSpPr>
        <p:spPr>
          <a:xfrm>
            <a:off x="1850315" y="2312894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/>
        </p:nvSpPr>
        <p:spPr>
          <a:xfrm>
            <a:off x="73169" y="540235"/>
            <a:ext cx="15051228" cy="631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9" name="Google Shape;149;p33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06CB4C-3D1F-898C-6B7B-52E772338E1A}"/>
              </a:ext>
            </a:extLst>
          </p:cNvPr>
          <p:cNvSpPr/>
          <p:nvPr/>
        </p:nvSpPr>
        <p:spPr>
          <a:xfrm>
            <a:off x="3983917" y="1110726"/>
            <a:ext cx="2624866" cy="95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1.USER APP</a:t>
            </a:r>
          </a:p>
          <a:p>
            <a:pPr algn="ctr"/>
            <a:r>
              <a:rPr lang="en-IN" sz="1600"/>
              <a:t>(MOBILE/WEB)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FFB835-ABCD-3AD9-223F-234616477DB9}"/>
              </a:ext>
            </a:extLst>
          </p:cNvPr>
          <p:cNvSpPr/>
          <p:nvPr/>
        </p:nvSpPr>
        <p:spPr>
          <a:xfrm>
            <a:off x="3983917" y="2247673"/>
            <a:ext cx="2624866" cy="95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2.DATA INPUT</a:t>
            </a:r>
          </a:p>
          <a:p>
            <a:pPr algn="ctr"/>
            <a:r>
              <a:rPr lang="en-IN" sz="1600"/>
              <a:t>(SLEEP,SCREEN TIME,ACTIVITY)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FCD3A-ACBF-5CE2-E3D9-D08085C81F6A}"/>
              </a:ext>
            </a:extLst>
          </p:cNvPr>
          <p:cNvSpPr/>
          <p:nvPr/>
        </p:nvSpPr>
        <p:spPr>
          <a:xfrm>
            <a:off x="3983917" y="3398069"/>
            <a:ext cx="2624866" cy="95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3.PROCESSING AND ANALYSIS</a:t>
            </a:r>
          </a:p>
          <a:p>
            <a:pPr algn="ctr"/>
            <a:r>
              <a:rPr lang="en-IN" sz="1600"/>
              <a:t>(LOGIC/ML)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390F0A-B1C0-51B0-9B8A-026EADBA0152}"/>
              </a:ext>
            </a:extLst>
          </p:cNvPr>
          <p:cNvSpPr/>
          <p:nvPr/>
        </p:nvSpPr>
        <p:spPr>
          <a:xfrm>
            <a:off x="3983917" y="4548465"/>
            <a:ext cx="2624866" cy="95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4.CLOUD/DB</a:t>
            </a:r>
          </a:p>
          <a:p>
            <a:pPr algn="ctr"/>
            <a:r>
              <a:rPr lang="en-IN" sz="1600"/>
              <a:t>(FIREBASE)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305FFE-CF42-53FD-615E-E1500A8A5B29}"/>
              </a:ext>
            </a:extLst>
          </p:cNvPr>
          <p:cNvSpPr/>
          <p:nvPr/>
        </p:nvSpPr>
        <p:spPr>
          <a:xfrm>
            <a:off x="3983917" y="5698861"/>
            <a:ext cx="2624866" cy="95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5.ALERTS AND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 txBox="1"/>
          <p:nvPr/>
        </p:nvSpPr>
        <p:spPr>
          <a:xfrm>
            <a:off x="293200" y="505609"/>
            <a:ext cx="11630800" cy="635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5" name="Google Shape;155;p34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5C126C-A408-A09B-8F67-8C5328047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" y="1075764"/>
            <a:ext cx="3894269" cy="5782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21EF8D-1376-1F7F-33F5-2B64580EBE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696" y="1075764"/>
            <a:ext cx="3894269" cy="5782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CE1D6-CF2F-BFE1-117C-609BEE1857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364" y="1075764"/>
            <a:ext cx="3924635" cy="57822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8295D2-66BA-E392-1040-590328D4DB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" y="1075764"/>
            <a:ext cx="3811895" cy="5782235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80B0BE1F-2E2A-789A-62B0-BA5F25C218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9826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99B207E-F74C-669D-2FF0-93F83A0C8B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4B41E6-2481-053F-5948-C0BB6F0543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636" y="1075762"/>
            <a:ext cx="3811895" cy="5782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8735E3-98FB-7B95-4412-A0E6D26574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729" y="1075762"/>
            <a:ext cx="3894270" cy="5782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 txBox="1"/>
          <p:nvPr/>
        </p:nvSpPr>
        <p:spPr>
          <a:xfrm>
            <a:off x="146600" y="548640"/>
            <a:ext cx="11858800" cy="630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</a:t>
            </a:r>
            <a:r>
              <a:rPr lang="en-IN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Development</a:t>
            </a:r>
            <a:endParaRPr lang="en-GB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endParaRPr lang="en-GB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32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</a:t>
            </a: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•	Integration with wearables (smartwatch, fitness bands) for real-time data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Use of advanced AI/ML models for more accurate burnout prediction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Personalized recommendations based on user behavior trends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Institution-level dashboards for colleges and organizations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Multilingual support for wider accessibility</a:t>
            </a:r>
          </a:p>
          <a:p>
            <a:pPr>
              <a:buClr>
                <a:srgbClr val="000000"/>
              </a:buClr>
              <a:buSzPts val="1800"/>
            </a:pP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	•	Stronger data privacy &amp; security enhancements</a:t>
            </a:r>
          </a:p>
          <a:p>
            <a:pPr>
              <a:buClr>
                <a:srgbClr val="000000"/>
              </a:buClr>
              <a:buSzPts val="1800"/>
            </a:pPr>
            <a:endParaRPr lang="en-US" sz="20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 :</a:t>
            </a:r>
          </a:p>
          <a:p>
            <a:pPr>
              <a:buClr>
                <a:srgbClr val="000000"/>
              </a:buClr>
              <a:buSzPts val="1800"/>
            </a:pPr>
            <a:endParaRPr lang="en-US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indent="-457200">
              <a:buClr>
                <a:srgbClr val="000000"/>
              </a:buClr>
              <a:buSzPts val="1800"/>
              <a:buAutoNum type="arabicPeriod"/>
            </a:pPr>
            <a:r>
              <a:rPr lang="en-US" sz="2000" b="1" err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</a:t>
            </a: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Public Repository</a:t>
            </a: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: https://github.com/orgs/EARLY-WARNING-BURNOUT-SYSTEM/repositories</a:t>
            </a:r>
            <a:endParaRPr lang="en-US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indent="-457200">
              <a:buClr>
                <a:srgbClr val="000000"/>
              </a:buClr>
              <a:buSzPts val="1800"/>
              <a:buAutoNum type="arabicPeriod"/>
            </a:pP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 Minutes): </a:t>
            </a: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https://drive.google.com/file/d/1iSLWJG8K5mH0XrwBQVaPUshcoybxzGY1/view?usp=drivesdk</a:t>
            </a:r>
            <a:endParaRPr lang="en-US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indent="-457200">
              <a:buClr>
                <a:srgbClr val="000000"/>
              </a:buClr>
              <a:buSzPts val="1800"/>
              <a:buAutoNum type="arabicPeriod"/>
            </a:pPr>
            <a:r>
              <a:rPr lang="en-US" sz="20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Link: </a:t>
            </a:r>
            <a:r>
              <a:rPr lang="en-US" sz="24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  <a:hlinkClick r:id="rId5"/>
              </a:rPr>
              <a:t>https://burnout-early-warning.netlify.app</a:t>
            </a:r>
            <a:endParaRPr lang="en-US" sz="2400" b="1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1" name="Google Shape;161;p35" title="Group 220018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067" y="232234"/>
            <a:ext cx="2435368" cy="43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5200"/>
            </a:pPr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endParaRPr/>
          </a:p>
        </p:txBody>
      </p:sp>
      <p:pic>
        <p:nvPicPr>
          <p:cNvPr id="179" name="Google Shape;179;p38" title="tq slide techspri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8"/>
          <p:cNvSpPr txBox="1"/>
          <p:nvPr/>
        </p:nvSpPr>
        <p:spPr>
          <a:xfrm>
            <a:off x="457700" y="5283934"/>
            <a:ext cx="4950400" cy="1402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GB" sz="6533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sz="6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Widescreen</PresentationFormat>
  <Paragraphs>102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NANDINI KANDULA</dc:creator>
  <cp:lastModifiedBy>NANDINI KANDULA</cp:lastModifiedBy>
  <cp:revision>2</cp:revision>
  <dcterms:created xsi:type="dcterms:W3CDTF">2026-01-03T16:41:50Z</dcterms:created>
  <dcterms:modified xsi:type="dcterms:W3CDTF">2026-01-04T08:39:37Z</dcterms:modified>
</cp:coreProperties>
</file>